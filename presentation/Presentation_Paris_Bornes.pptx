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58" r:id="rId5"/>
    <p:sldId id="266" r:id="rId6"/>
    <p:sldId id="259" r:id="rId7"/>
    <p:sldId id="265" r:id="rId8"/>
    <p:sldId id="260" r:id="rId9"/>
    <p:sldId id="261" r:id="rId10"/>
    <p:sldId id="262" r:id="rId11"/>
    <p:sldId id="273" r:id="rId24"/>
    <p:sldId id="274" r:id="rId25"/>
    <p:sldId id="264" r:id="rId12"/>
    <p:sldId id="268" r:id="rId19"/>
    <p:sldId id="269" r:id="rId20"/>
    <p:sldId id="270" r:id="rId21"/>
    <p:sldId id="271" r:id="rId22"/>
    <p:sldId id="272" r:id="rId23"/>
    <p:sldId id="26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7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8782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d'ouverture. Se présenter en 2 phrases max, annoncer le projet,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0'30</a:t>
            </a:r>
          </a:p>
          <a:p>
            <a:endParaRPr/>
          </a:p>
          <a:p>
            <a:r>
              <a:t>Paris : 1 900 bornes, 15 000 VE, norme AFIR 1 pour 10. Dans 3 ans, combien, et où ? On a construit un outil. On vous le montre.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1'00</a:t>
            </a:r>
          </a:p>
          <a:p/>
          <a:p>
            <a:r>
              <a:t>Stack : les données bornes sont récupérées EN DIRECT depuis les données publiques ouvertes (OpenData Ville de Paris — Belib'), nettoyées et normalisées à la volée, puis stockées dans une base SQLite légère. Application Streamlit conteneurisée (Docker) et déployée sur Hugging Face Spaces. Pipeline simple, reproductible, sans dépendance externe. Ouvrez le dashboard maintenant — l'URL est ici.</a:t>
            </a:r>
          </a:p>
          <a:p/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0'30</a:t>
            </a:r>
          </a:p>
          <a:p>
            <a:endParaRPr/>
          </a:p>
          <a:p>
            <a:r>
              <a:t>[Axe 4 ouvre le dashboard en plein écran] Voici le dashboard — public, temps réel. On le suit pendant les 7 prochaines minutes.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0'50</a:t>
            </a:r>
          </a:p>
          <a:p>
            <a:endParaRPr/>
          </a:p>
          <a:p>
            <a:r>
              <a:t>Installer c'est bien. Encore faut-il que le réseau tienne. Conso Enedis par arrondissement, croisée avec nos scénarios. Central : soutenable. Haut : arbitrage réseau dans 4 arrdts. Argument chiffré à poser.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1'30</a:t>
            </a:r>
          </a:p>
          <a:p>
            <a:endParaRPr/>
          </a:p>
          <a:p>
            <a:r>
              <a:t>Première mesure : la pression — VE par borne, par arrondissement. En rouge, les arrdts déjà tendus. Notre cible P* : le plus exigeant entre les 5 meilleurs arrdts de Paris et la norme AFIR. Résultat : 13 arrondissements seront critiques à 3 ans en scénario central. Le 15ᵉ concentre à lui seul près de 800 bornes manquantes.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29348-5657-45D0-C422-37CBA612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0BEDA-2D9A-E55E-4F9F-6797D475C2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36496-7196-72F2-38C6-BE568C279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FFC56-C7C4-13AB-305C-04254D217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14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3 · Mobilité] · 1'30</a:t>
            </a:r>
          </a:p>
          <a:p>
            <a:endParaRPr/>
          </a:p>
          <a:p>
            <a:r>
              <a:t>Où exactement dans l'arrondissement ? Points candidats croisés avec trafic, POI, Vélib'. Dans le 19ᵉ par exemple, 6 emplacements tombent sur des axes à fort passage.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/ Axe 4] · 1'30</a:t>
            </a:r>
          </a:p>
          <a:p>
            <a:endParaRPr/>
          </a:p>
          <a:p>
            <a:r>
              <a:t>Retour au curseur scénarios + horizon. Bas à 3 ans : 4 000 bornes. Central à 3 ans : 7 600. Haut à 3 ans : 12 000. À 5 ans en scénario haut : 34 000 bornes manquantes. C'est cette projection qui permet de planifier — pas de réagir.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spaces/Alh92500/paris-bornes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6-paris-bornes" TargetMode="External"/><Relationship Id="rId3" Type="http://schemas.openxmlformats.org/officeDocument/2006/relationships/hyperlink" Target="https://huggingface.co/spaces/Alh92500/paris-borne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1" i="0">
                <a:solidFill>
                  <a:srgbClr val="2EF598"/>
                </a:solidFill>
                <a:latin typeface="Calibri"/>
              </a:rPr>
              <a:t>PROJET FINAL · JEDHA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4200" b="1" i="0">
                <a:solidFill>
                  <a:srgbClr val="EAEAEA"/>
                </a:solidFill>
                <a:latin typeface="Calibri"/>
              </a:rPr>
              <a:t>Bornes de recharge VE — Paris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0">
                <a:solidFill>
                  <a:srgbClr val="8A9199"/>
                </a:solidFill>
                <a:latin typeface="Calibri"/>
              </a:rPr>
              <a:t>Où en installer, combien, et quand 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520440"/>
            <a:ext cx="3566160" cy="0"/>
          </a:xfrm>
          <a:prstGeom prst="line">
            <a:avLst/>
          </a:prstGeom>
          <a:ln w="25400">
            <a:solidFill>
              <a:srgbClr val="2EF5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FFD54F"/>
                </a:solidFill>
                <a:latin typeface="Calibri"/>
              </a:rPr>
              <a:t>Modèle 3 — Démo fil rouge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1">
                <a:solidFill>
                  <a:srgbClr val="8A9199"/>
                </a:solidFill>
                <a:latin typeface="Calibri"/>
              </a:rPr>
              <a:t>Le dashboard est lancé dès la minute 2 et reste à l'écran.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100" b="0" i="0">
                <a:solidFill>
                  <a:srgbClr val="8A9199"/>
                </a:solidFill>
                <a:latin typeface="Calibri"/>
              </a:rPr>
              <a:t>Équipe de 4  ·  8 minutes  ·  Soutenance finale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Paris · le décalage bornes / 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2EF598"/>
                </a:solidFill>
                <a:latin typeface="Calibri"/>
              </a:rPr>
              <a:t>1 900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bornes publiques à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· Gireve · OpenChargeMap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D54F"/>
                </a:solidFill>
                <a:latin typeface="Calibri"/>
              </a:rPr>
              <a:t>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véhicules électriques
d'ici 3 à 5 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ZFE · AFIR · fin des thermiques 2035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8F65"/>
                </a:solidFill>
                <a:latin typeface="Calibri"/>
              </a:rPr>
              <a:t>1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norme européenne AFIR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Règlement UE 2023 · 1 borne / 10 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000" b="1" i="0">
                <a:solidFill>
                  <a:srgbClr val="EAEAEA"/>
                </a:solidFill>
                <a:latin typeface="Calibri"/>
              </a:rPr>
              <a:t>Dans 3 ans, combien de bornes manqueront — et où exactement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1'00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Tout reproductible, tout open</a:t>
            </a:r>
          </a:p>
        </p:txBody>
      </p:sp>
      <p:pic>
        <p:nvPicPr>
          <p:cNvPr id="7" name="Picture 6" descr="archi 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43" y="1426706"/>
            <a:ext cx="11222869" cy="4699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(OpenData Ville de Paris)  →  récupération directe + nettoyage  →  SQLite  →  Streamlit  →  Docker  →  HF Spaces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TRANSITION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On ouvre le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109167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200" b="1" i="0" dirty="0">
                <a:solidFill>
                  <a:srgbClr val="2EF598"/>
                </a:solidFill>
                <a:latin typeface="Calibri"/>
              </a:rPr>
              <a:t>https://huggingface.co/spaces/Alh92500/paris-bornes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400" b="0" i="1">
                <a:solidFill>
                  <a:srgbClr val="8A9199"/>
                </a:solidFill>
                <a:latin typeface="Calibri"/>
              </a:rPr>
              <a:t>Le dashboard prend le relais — on le suit pendant les 7 prochaines minutes.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ANGLE ÉNERGIE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0'50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Le réseau tient-il le choc ?</a:t>
            </a:r>
          </a:p>
        </p:txBody>
      </p:sp>
      <p:pic>
        <p:nvPicPr>
          <p:cNvPr id="7" name="Picture 6" descr="fig2_soutenabilite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84" y="2006600"/>
            <a:ext cx="7804526" cy="299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8788" y="2261152"/>
            <a:ext cx="4206240" cy="3200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Conso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Enedis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par arrondissement</a:t>
            </a: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Croisé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avec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besoin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bornes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à 5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ans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central :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soutenable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haut : 4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arrdt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sensibles</a:t>
            </a:r>
            <a:endParaRPr sz="14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COUCHE PRESSION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Déficit de bornes à 3 ans · par arrondissement</a:t>
            </a:r>
          </a:p>
        </p:txBody>
      </p:sp>
      <p:pic>
        <p:nvPicPr>
          <p:cNvPr id="7" name="Picture 6" descr="chart_deficit_par_arr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43923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15ᵉ en tête : ~800 bornes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18ᵉ · 20ᵉ · 19ᵉ · 13ᵉ très rouges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13 arrdts au-dessus du seuil AFIR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8ᵉ et 1ᵉ = cas sereins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9923-8A1C-D776-0812-BF98BC7F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B10262-F137-57AC-8F01-3E4EE69D08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0DA25-F0D2-A677-1414-5F6D0D33DEF0}"/>
              </a:ext>
            </a:extLst>
          </p:cNvPr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1B5773-DFBA-3FB9-2A41-AD98AACADF15}"/>
              </a:ext>
            </a:extLst>
          </p:cNvPr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50C50F6-822F-6E1F-9D84-41D5087E4E28}"/>
              </a:ext>
            </a:extLst>
          </p:cNvPr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966AF-66A4-B586-70AB-22B541A9040D}"/>
              </a:ext>
            </a:extLst>
          </p:cNvPr>
          <p:cNvSpPr txBox="1"/>
          <p:nvPr/>
        </p:nvSpPr>
        <p:spPr>
          <a:xfrm>
            <a:off x="548640" y="960120"/>
            <a:ext cx="11091672" cy="43704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 dirty="0" err="1">
                <a:solidFill>
                  <a:srgbClr val="EAEAEA"/>
                </a:solidFill>
                <a:latin typeface="Calibri"/>
              </a:rPr>
              <a:t>Niveau</a:t>
            </a:r>
            <a:r>
              <a:rPr sz="2600" b="1" i="0" dirty="0">
                <a:solidFill>
                  <a:srgbClr val="EAEAEA"/>
                </a:solidFill>
                <a:latin typeface="Calibri"/>
              </a:rPr>
              <a:t> de stress réseau </a:t>
            </a:r>
            <a:r>
              <a:rPr lang="fr-FR" sz="2600" b="1" i="0" dirty="0">
                <a:solidFill>
                  <a:srgbClr val="EAEAEA"/>
                </a:solidFill>
                <a:latin typeface="Calibri"/>
              </a:rPr>
              <a:t>aujourd’hui.</a:t>
            </a:r>
            <a:endParaRPr sz="2600" b="1" i="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DEA72A-A428-909E-E74E-3216A27463E4}"/>
              </a:ext>
            </a:extLst>
          </p:cNvPr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56AE3-429E-4FF7-99AC-3F599F1217DC}"/>
              </a:ext>
            </a:extLst>
          </p:cNvPr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84D5E1B-0E2D-20D8-15D6-203B1952B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9734"/>
            <a:ext cx="8149614" cy="468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527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Niveau de stress réseau à 3 ans</a:t>
            </a:r>
          </a:p>
        </p:txBody>
      </p:sp>
      <p:pic>
        <p:nvPicPr>
          <p:cNvPr id="7" name="Picture 6" descr="chart_niveaux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3545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13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arrdts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critiques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4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en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vigilance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soutenables</a:t>
            </a:r>
            <a:endParaRPr sz="13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Central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tient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— haut à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surveiller</a:t>
            </a:r>
            <a:endParaRPr sz="13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8F65"/>
                </a:solidFill>
                <a:latin typeface="Calibri"/>
              </a:rPr>
              <a:t>ANGLE MOBILITÉ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8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8F65"/>
                </a:solidFill>
                <a:latin typeface="Calibri"/>
              </a:rPr>
              <a:t>Axe 3 · Mobilité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Où installer, concrètement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8F65"/>
                </a:solidFill>
                <a:latin typeface="Calibri"/>
              </a:rPr>
              <a:t>Trafic routier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Comptages DRIEA
Axes à fort passage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81144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D54F"/>
                </a:solidFill>
                <a:latin typeface="Calibri"/>
              </a:rPr>
              <a:t>POI OpenStreetMap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Commerces · services
Parkings existants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66176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2EF598"/>
                </a:solidFill>
                <a:latin typeface="Calibri"/>
              </a:rPr>
              <a:t>Modes doux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Vélib' · pistes cyclables
Mutualisation 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8A9199"/>
                </a:solidFill>
                <a:latin typeface="Calibri"/>
              </a:rPr>
              <a:t>Résultat : un GeoJSON de points candidats, déjà affichable sur le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D54F"/>
                </a:solidFill>
                <a:latin typeface="Calibri"/>
              </a:rPr>
              <a:t>SCÉNARIOS ×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D54F"/>
                </a:solidFill>
                <a:latin typeface="Calibri"/>
              </a:rPr>
              <a:t>Axe 1 / Axe 4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Projection du déficit · 3 scénarios × 5 horizons</a:t>
            </a:r>
          </a:p>
        </p:txBody>
      </p:sp>
      <p:pic>
        <p:nvPicPr>
          <p:cNvPr id="7" name="Picture 6" descr="chart_scenarios_defic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510748"/>
            <a:ext cx="9058830" cy="48897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1091672" cy="1371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7200" b="1" i="0">
                <a:solidFill>
                  <a:srgbClr val="2EF598"/>
                </a:solidFill>
                <a:latin typeface="Calibri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91672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800" b="0" i="0">
                <a:solidFill>
                  <a:srgbClr val="8A9199"/>
                </a:solidFill>
                <a:latin typeface="Calibri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0">
                <a:solidFill>
                  <a:srgbClr val="8A9199"/>
                </a:solidFill>
                <a:latin typeface="Calibri"/>
              </a:rPr>
              <a:t>https://huggingface.co/spaces/Alh92500/paris-bornes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▶  Démonstration en 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1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4D4"/>
                </a:solidFill>
              </a:rPr>
              <a:t>Je vous montre l'application en direct :</a:t>
            </a:r>
          </a:p>
          <a:p>
            <a:r>
              <a:rPr sz="2200" b="1">
                <a:solidFill>
                  <a:srgbClr val="6CB6FF"/>
                </a:solidFill>
                <a:hlinkClick r:id="rId2"/>
              </a:rPr>
              <a:t>https://huggingface.co/spaces/Alh92500/paris-bornes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La solution — cartographie des 1900 bornes</a:t>
            </a:r>
          </a:p>
        </p:txBody>
      </p:sp>
      <p:pic>
        <p:nvPicPr>
          <p:cNvPr id="3" name="Picture 2" descr="app_ca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4720" cy="6934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Pression — où ça coince aujourd'hui</a:t>
            </a:r>
          </a:p>
        </p:txBody>
      </p:sp>
      <p:pic>
        <p:nvPicPr>
          <p:cNvPr id="3" name="Picture 2" descr="app_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4720" cy="6934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Projection — combien de bornes à 3 ans</a:t>
            </a:r>
          </a:p>
        </p:txBody>
      </p:sp>
      <p:pic>
        <p:nvPicPr>
          <p:cNvPr id="3" name="Picture 2" descr="app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4720" cy="6934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Soutenabilité — le réseau tient-il ?</a:t>
            </a:r>
          </a:p>
        </p:txBody>
      </p:sp>
      <p:pic>
        <p:nvPicPr>
          <p:cNvPr id="3" name="Picture 2" descr="app_soutenabi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4720" cy="6934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🔗 Liens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B8C4D4"/>
                </a:solidFill>
              </a:rPr>
              <a:t>Code (GitHub) : </a:t>
            </a:r>
            <a:r>
              <a:rPr sz="1800">
                <a:solidFill>
                  <a:srgbClr val="6CB6FF"/>
                </a:solidFill>
                <a:hlinkClick r:id="rId2"/>
              </a:rPr>
              <a:t>https://github.com/aymericlahonde-dotcom/cdsd-b6-paris-bornes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B8C4D4"/>
                </a:solidFill>
              </a:rPr>
              <a:t>Application (HF) : </a:t>
            </a:r>
            <a:r>
              <a:rPr sz="1800">
                <a:solidFill>
                  <a:srgbClr val="6CB6FF"/>
                </a:solidFill>
                <a:hlinkClick r:id="rId3"/>
              </a:rPr>
              <a:t>https://huggingface.co/spaces/Alh92500/paris-bornes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F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F598"/>
                </a:solidFill>
              </a:rPr>
              <a:t>CONFORMITÉ · RGPD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Conformité RGPD — aucune donnée personnelle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100 % données ouvertes et agrégées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Belib' (OpenData Paris), parc VE (SDES/data.gouv), Enedis, INSEE — maille arrondissement, jamais l'individu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Aucune donnée personnelle (PII)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Pas de nom, pas d'immatriculation, pas d'adresse d'usager — hors champ RGPD art. 4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Aucun traçage utilisateur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Pas de cookie, pas d'authentification, pas d'IP — suivi d'usage anonyme (horodatage serveur)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Licences ouvertes + principes CNIL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Licence Ouverte Etalab / ODbL · minimisation, transparence, aucun secret dans le dépôt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8DEED"/>
                </a:solidFill>
              </a:rPr>
              <a:t>Bornes de recharge VE — Paris · Projet Final Jedha   ·   RGPD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F5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F598"/>
                </a:solidFill>
              </a:rPr>
              <a:t>GESTION DE PROJET ·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Budget &amp; coûts — ~0 € pour piloter des dizaines de M€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Solution data (MVP livré) : ~0 €/mois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Hugging Face Spaces gratuit · OpenData gratuit · GitHub public — aucun service payant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Coût humain : équipe de 4 · 4-5 jours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~15-20 jours-homme pour le projet école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Déploiement métier : ~10-15 k€ / borne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Voirie standard (génie civil + raccordement) ; borne rapide DC : 30-50 k€ ; maintenance 500-1500 €/an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</a:rPr>
              <a:t>▸  Rollout ordre de grandeur : ~90 M€ à 3 ans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8DEED"/>
                </a:solidFill>
              </a:rPr>
              <a:t>      Scénario central ≈ 7 600 bornes × ~12 k€ — l'outil sert à PRIORISER cet investissement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8DEED"/>
                </a:solidFill>
              </a:rPr>
              <a:t>Bornes de recharge VE — Paris · Projet Final Jedha   ·   Budget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1141</Words>
  <Application>Microsoft Office PowerPoint</Application>
  <PresentationFormat>Grand écran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Aymeric LAHONDE</cp:lastModifiedBy>
  <cp:revision>3</cp:revision>
  <dcterms:created xsi:type="dcterms:W3CDTF">2013-01-27T09:14:16Z</dcterms:created>
  <dcterms:modified xsi:type="dcterms:W3CDTF">2026-04-22T08:08:26Z</dcterms:modified>
  <cp:category/>
</cp:coreProperties>
</file>