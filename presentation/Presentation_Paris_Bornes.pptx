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3" r:id="rId4"/>
    <p:sldId id="258" r:id="rId5"/>
    <p:sldId id="266" r:id="rId6"/>
    <p:sldId id="259" r:id="rId7"/>
    <p:sldId id="265" r:id="rId8"/>
    <p:sldId id="260" r:id="rId9"/>
    <p:sldId id="261" r:id="rId10"/>
    <p:sldId id="262" r:id="rId11"/>
    <p:sldId id="264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4" d="100"/>
          <a:sy n="94" d="100"/>
        </p:scale>
        <p:origin x="117" y="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87828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d'ouverture. Se présenter en 2 phrases max, annoncer le projet,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[Axe 1 · Données] · 0'30</a:t>
            </a:r>
          </a:p>
          <a:p>
            <a:endParaRPr/>
          </a:p>
          <a:p>
            <a:r>
              <a:t>Paris : 1 900 bornes, 15 000 VE, norme AFIR 1 pour 10. Dans 3 ans, combien, et où ? On a construit un outil. On vous le montre.</a:t>
            </a:r>
          </a:p>
          <a:p>
            <a:endParaRPr/>
          </a:p>
          <a:p>
            <a:r>
              <a:t>RÈGLE : ne pas lire. Retenir la structure et parler.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[Axe 4 · Architecture] · 1'00</a:t>
            </a:r>
          </a:p>
          <a:p>
            <a:endParaRPr/>
          </a:p>
          <a:p>
            <a:r>
              <a:t>Stack : Belib', Gireve, OpenChargeMap collectés via Airflow + S3. SQLite, FastAPI, Streamlit, Docker, HF Spaces. Tout est reproductible. Ouvrez le dashboard maintenant — l'URL est ici. Merci.</a:t>
            </a:r>
          </a:p>
          <a:p>
            <a:endParaRPr/>
          </a:p>
          <a:p>
            <a:r>
              <a:t>RÈGLE : ne pas lire. Retenir la structure et parler.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[Axe 4 · Architecture] · 0'30</a:t>
            </a:r>
          </a:p>
          <a:p>
            <a:endParaRPr/>
          </a:p>
          <a:p>
            <a:r>
              <a:t>[Axe 4 ouvre le dashboard en plein écran] Voici le dashboard — public, temps réel. On le suit pendant les 7 prochaines minutes.</a:t>
            </a:r>
          </a:p>
          <a:p>
            <a:endParaRPr/>
          </a:p>
          <a:p>
            <a:r>
              <a:t>RÈGLE : ne pas lire. Retenir la structure et parler.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[Axe 2 · Énergie] · 0'50</a:t>
            </a:r>
          </a:p>
          <a:p>
            <a:endParaRPr/>
          </a:p>
          <a:p>
            <a:r>
              <a:t>Installer c'est bien. Encore faut-il que le réseau tienne. Conso Enedis par arrondissement, croisée avec nos scénarios. Central : soutenable. Haut : arbitrage réseau dans 4 arrdts. Argument chiffré à poser.</a:t>
            </a:r>
          </a:p>
          <a:p>
            <a:endParaRPr/>
          </a:p>
          <a:p>
            <a:r>
              <a:t>RÈGLE : ne pas lire. Retenir la structure et parler.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[Axe 1 · Données] · 1'30</a:t>
            </a:r>
          </a:p>
          <a:p>
            <a:endParaRPr/>
          </a:p>
          <a:p>
            <a:r>
              <a:t>Première mesure : la pression — VE par borne, par arrondissement. En rouge, les arrdts déjà tendus. Notre cible P* : le plus exigeant entre les 5 meilleurs arrdts de Paris et la norme AFIR. Résultat : 13 arrondissements seront critiques à 3 ans en scénario central. Le 15ᵉ concentre à lui seul près de 800 bornes manquantes.</a:t>
            </a:r>
          </a:p>
          <a:p>
            <a:endParaRPr/>
          </a:p>
          <a:p>
            <a:r>
              <a:t>RÈGLE : ne pas lire. Retenir la structure et parler.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29348-5657-45D0-C422-37CBA6122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90BEDA-2D9A-E55E-4F9F-6797D475C2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D36496-7196-72F2-38C6-BE568C2796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[Axe 2 · Énergie] · 1'30</a:t>
            </a:r>
          </a:p>
          <a:p>
            <a:endParaRPr/>
          </a:p>
          <a:p>
            <a:r>
              <a:t>Angle énergie. On active la couche réseau. Conso Enedis résidentielle croisée avec besoin bornes 5 ans. Scénario central : soutenable partout. Scénario haut : 4 arrondissements passent en rouge. Signal clair pour une collectivité : anticiper l'upgrade.</a:t>
            </a:r>
          </a:p>
          <a:p>
            <a:endParaRPr/>
          </a:p>
          <a:p>
            <a:r>
              <a:t>RÈGLE : ne pas lire. Retenir la structure et parler.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AFFC56-C7C4-13AB-305C-04254D2178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121147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[Axe 2 · Énergie] · 1'30</a:t>
            </a:r>
          </a:p>
          <a:p>
            <a:endParaRPr/>
          </a:p>
          <a:p>
            <a:r>
              <a:t>Angle énergie. On active la couche réseau. Conso Enedis résidentielle croisée avec besoin bornes 5 ans. Scénario central : soutenable partout. Scénario haut : 4 arrondissements passent en rouge. Signal clair pour une collectivité : anticiper l'upgrade.</a:t>
            </a:r>
          </a:p>
          <a:p>
            <a:endParaRPr/>
          </a:p>
          <a:p>
            <a:r>
              <a:t>RÈGLE : ne pas lire. Retenir la structure et parler.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[Axe 3 · Mobilité] · 1'30</a:t>
            </a:r>
          </a:p>
          <a:p>
            <a:endParaRPr/>
          </a:p>
          <a:p>
            <a:r>
              <a:t>Où exactement dans l'arrondissement ? Points candidats croisés avec trafic, POI, Vélib'. Dans le 19ᵉ par exemple, 6 emplacements tombent sur des axes à fort passage.</a:t>
            </a:r>
          </a:p>
          <a:p>
            <a:endParaRPr/>
          </a:p>
          <a:p>
            <a:r>
              <a:t>RÈGLE : ne pas lire. Retenir la structure et parler.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[Axe 1 / Axe 4] · 1'30</a:t>
            </a:r>
          </a:p>
          <a:p>
            <a:endParaRPr/>
          </a:p>
          <a:p>
            <a:r>
              <a:t>Retour au curseur scénarios + horizon. Bas à 3 ans : 4 000 bornes. Central à 3 ans : 7 600. Haut à 3 ans : 12 000. À 5 ans en scénario haut : 34 000 bornes manquantes. C'est cette projection qui permet de planifier — pas de réagir.</a:t>
            </a:r>
          </a:p>
          <a:p>
            <a:endParaRPr/>
          </a:p>
          <a:p>
            <a:r>
              <a:t>RÈGLE : ne pas lire. Retenir la structure et parler.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finale.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300" b="1" i="0">
                <a:solidFill>
                  <a:srgbClr val="2EF598"/>
                </a:solidFill>
                <a:latin typeface="Calibri"/>
              </a:rPr>
              <a:t>PROJET FINAL · JEDHA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0972800" cy="9144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4200" b="1" i="0">
                <a:solidFill>
                  <a:srgbClr val="EAEAEA"/>
                </a:solidFill>
                <a:latin typeface="Calibri"/>
              </a:rPr>
              <a:t>Bornes de recharge VE — Paris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10972800" cy="4572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000" b="0" i="0">
                <a:solidFill>
                  <a:srgbClr val="8A9199"/>
                </a:solidFill>
                <a:latin typeface="Calibri"/>
              </a:rPr>
              <a:t>Où en installer, combien, et quand 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3520440"/>
            <a:ext cx="3566160" cy="0"/>
          </a:xfrm>
          <a:prstGeom prst="line">
            <a:avLst/>
          </a:prstGeom>
          <a:ln w="25400">
            <a:solidFill>
              <a:srgbClr val="2EF5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3749039"/>
            <a:ext cx="10972800" cy="4572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1" i="0">
                <a:solidFill>
                  <a:srgbClr val="FFD54F"/>
                </a:solidFill>
                <a:latin typeface="Calibri"/>
              </a:rPr>
              <a:t>Modèle 3 — Démo fil rouge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10972800" cy="4572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300" b="0" i="1">
                <a:solidFill>
                  <a:srgbClr val="8A9199"/>
                </a:solidFill>
                <a:latin typeface="Calibri"/>
              </a:rPr>
              <a:t>Le dashboard est lancé dès la minute 2 et reste à l'écran.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100" b="0" i="0">
                <a:solidFill>
                  <a:srgbClr val="8A9199"/>
                </a:solidFill>
                <a:latin typeface="Calibri"/>
              </a:rPr>
              <a:t>Équipe de 4  ·  8 minutes  ·  Soutenance finale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8A9199"/>
                </a:solidFill>
                <a:latin typeface="Calibri"/>
              </a:rPr>
              <a:t>Bornes de recharge VE — Paris · Projet Final Jedha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8A9199"/>
                </a:solidFill>
                <a:latin typeface="Calibri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1" i="0">
                <a:solidFill>
                  <a:srgbClr val="2EF598"/>
                </a:solidFill>
                <a:latin typeface="Calibri"/>
              </a:rPr>
              <a:t>LE PROBLÈME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731520" cy="45720"/>
          </a:xfrm>
          <a:prstGeom prst="rect">
            <a:avLst/>
          </a:prstGeom>
          <a:solidFill>
            <a:srgbClr val="2EF5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418320" y="320040"/>
            <a:ext cx="2221992" cy="411480"/>
          </a:xfrm>
          <a:prstGeom prst="roundRect">
            <a:avLst/>
          </a:prstGeom>
          <a:solidFill>
            <a:srgbClr val="141B2B"/>
          </a:solidFill>
          <a:ln w="12700">
            <a:solidFill>
              <a:srgbClr val="2EF5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18288" rIns="73152" bIns="18288" rtlCol="0" anchor="ctr"/>
          <a:lstStyle/>
          <a:p>
            <a:pPr algn="ctr"/>
            <a:r>
              <a:rPr sz="1000" b="1">
                <a:solidFill>
                  <a:srgbClr val="2EF598"/>
                </a:solidFill>
                <a:latin typeface="Calibri"/>
              </a:rPr>
              <a:t>Axe 1 · Données</a:t>
            </a:r>
            <a:r>
              <a:rPr sz="1000">
                <a:solidFill>
                  <a:srgbClr val="8A9199"/>
                </a:solidFill>
                <a:latin typeface="Calibri"/>
              </a:rPr>
              <a:t>  ·  0'30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  <a:latin typeface="Calibri"/>
              </a:rPr>
              <a:t>Paris · le décalage bornes / 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468880"/>
            <a:ext cx="3383280" cy="2194560"/>
          </a:xfrm>
          <a:prstGeom prst="roundRect">
            <a:avLst/>
          </a:prstGeom>
          <a:solidFill>
            <a:srgbClr val="141B2B"/>
          </a:solidFill>
          <a:ln w="15875">
            <a:solidFill>
              <a:srgbClr val="2EF5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651760"/>
            <a:ext cx="3383280" cy="8229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4800" b="1" i="0">
                <a:solidFill>
                  <a:srgbClr val="2EF598"/>
                </a:solidFill>
                <a:latin typeface="Calibri"/>
              </a:rPr>
              <a:t>1 900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520440"/>
            <a:ext cx="3383280" cy="5486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300" b="0" i="0">
                <a:solidFill>
                  <a:srgbClr val="EAEAEA"/>
                </a:solidFill>
                <a:latin typeface="Calibri"/>
              </a:rPr>
              <a:t>bornes publiques à Paris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114800"/>
            <a:ext cx="3383280" cy="4572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000" b="0" i="1">
                <a:solidFill>
                  <a:srgbClr val="8A9199"/>
                </a:solidFill>
                <a:latin typeface="Calibri"/>
              </a:rPr>
              <a:t>Belib' · Gireve · OpenChargeMap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2468880"/>
            <a:ext cx="3383280" cy="2194560"/>
          </a:xfrm>
          <a:prstGeom prst="roundRect">
            <a:avLst/>
          </a:prstGeom>
          <a:solidFill>
            <a:srgbClr val="141B2B"/>
          </a:solidFill>
          <a:ln w="15875">
            <a:solidFill>
              <a:srgbClr val="FFD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651760"/>
            <a:ext cx="3383280" cy="8229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4800" b="1" i="0">
                <a:solidFill>
                  <a:srgbClr val="FFD54F"/>
                </a:solidFill>
                <a:latin typeface="Calibri"/>
              </a:rPr>
              <a:t>×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520440"/>
            <a:ext cx="3383280" cy="5486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300" b="0" i="0">
                <a:solidFill>
                  <a:srgbClr val="EAEAEA"/>
                </a:solidFill>
                <a:latin typeface="Calibri"/>
              </a:rPr>
              <a:t>véhicules électriques
d'ici 3 à 5 ans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4114800"/>
            <a:ext cx="3383280" cy="4572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000" b="0" i="1">
                <a:solidFill>
                  <a:srgbClr val="8A9199"/>
                </a:solidFill>
                <a:latin typeface="Calibri"/>
              </a:rPr>
              <a:t>ZFE · AFIR · fin des thermiques 2035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80" y="2468880"/>
            <a:ext cx="3383280" cy="2194560"/>
          </a:xfrm>
          <a:prstGeom prst="roundRect">
            <a:avLst/>
          </a:prstGeom>
          <a:solidFill>
            <a:srgbClr val="141B2B"/>
          </a:solidFill>
          <a:ln w="15875">
            <a:solidFill>
              <a:srgbClr val="FF8F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83880" y="2651760"/>
            <a:ext cx="3383280" cy="8229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4800" b="1" i="0">
                <a:solidFill>
                  <a:srgbClr val="FF8F65"/>
                </a:solidFill>
                <a:latin typeface="Calibri"/>
              </a:rPr>
              <a:t>1 /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3520440"/>
            <a:ext cx="3383280" cy="5486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300" b="0" i="0">
                <a:solidFill>
                  <a:srgbClr val="EAEAEA"/>
                </a:solidFill>
                <a:latin typeface="Calibri"/>
              </a:rPr>
              <a:t>norme européenne AFIR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4114800"/>
            <a:ext cx="3383280" cy="4572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000" b="0" i="1">
                <a:solidFill>
                  <a:srgbClr val="8A9199"/>
                </a:solidFill>
                <a:latin typeface="Calibri"/>
              </a:rPr>
              <a:t>Règlement UE 2023 · 1 borne / 10 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29200"/>
            <a:ext cx="1109167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2000" b="1" i="0">
                <a:solidFill>
                  <a:srgbClr val="EAEAEA"/>
                </a:solidFill>
                <a:latin typeface="Calibri"/>
              </a:rPr>
              <a:t>Dans 3 ans, combien de bornes manqueront — et où exactement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8A9199"/>
                </a:solidFill>
                <a:latin typeface="Calibri"/>
              </a:rPr>
              <a:t>Bornes de recharge VE — Paris · Projet Final Jedha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8A9199"/>
                </a:solidFill>
                <a:latin typeface="Calibri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1" i="0">
                <a:solidFill>
                  <a:srgbClr val="2EF598"/>
                </a:solidFill>
                <a:latin typeface="Calibri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731520" cy="45720"/>
          </a:xfrm>
          <a:prstGeom prst="rect">
            <a:avLst/>
          </a:prstGeom>
          <a:solidFill>
            <a:srgbClr val="2EF5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418320" y="320040"/>
            <a:ext cx="2221992" cy="411480"/>
          </a:xfrm>
          <a:prstGeom prst="roundRect">
            <a:avLst/>
          </a:prstGeom>
          <a:solidFill>
            <a:srgbClr val="141B2B"/>
          </a:solidFill>
          <a:ln w="12700">
            <a:solidFill>
              <a:srgbClr val="2EF5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18288" rIns="73152" bIns="18288" rtlCol="0" anchor="ctr"/>
          <a:lstStyle/>
          <a:p>
            <a:pPr algn="ctr"/>
            <a:r>
              <a:rPr sz="1000" b="1">
                <a:solidFill>
                  <a:srgbClr val="2EF598"/>
                </a:solidFill>
                <a:latin typeface="Calibri"/>
              </a:rPr>
              <a:t>Axe 4 · Architecture</a:t>
            </a:r>
            <a:r>
              <a:rPr sz="1000">
                <a:solidFill>
                  <a:srgbClr val="8A9199"/>
                </a:solidFill>
                <a:latin typeface="Calibri"/>
              </a:rPr>
              <a:t>  ·  1'00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  <a:latin typeface="Calibri"/>
              </a:rPr>
              <a:t>Tout reproductible, tout open</a:t>
            </a:r>
          </a:p>
        </p:txBody>
      </p:sp>
      <p:pic>
        <p:nvPicPr>
          <p:cNvPr id="7" name="Picture 6" descr="archi 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443" y="1426706"/>
            <a:ext cx="11222869" cy="46997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126480"/>
            <a:ext cx="11091672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000" b="0" i="1">
                <a:solidFill>
                  <a:srgbClr val="8A9199"/>
                </a:solidFill>
                <a:latin typeface="Calibri"/>
              </a:rPr>
              <a:t>Belib' · Gireve · OpenChargeMap · SQLite · FastAPI · Streamlit · Docker · HF Spaces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8A9199"/>
                </a:solidFill>
                <a:latin typeface="Calibri"/>
              </a:rPr>
              <a:t>Bornes de recharge VE — Paris · Projet Final Jedha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8A9199"/>
                </a:solidFill>
                <a:latin typeface="Calibri"/>
              </a:rPr>
              <a:t>8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1" i="0">
                <a:solidFill>
                  <a:srgbClr val="FF6B6B"/>
                </a:solidFill>
                <a:latin typeface="Calibri"/>
              </a:rPr>
              <a:t>TRANSITION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731520" cy="4572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418320" y="320040"/>
            <a:ext cx="2221992" cy="411480"/>
          </a:xfrm>
          <a:prstGeom prst="roundRect">
            <a:avLst/>
          </a:prstGeom>
          <a:solidFill>
            <a:srgbClr val="141B2B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18288" rIns="73152" bIns="18288" rtlCol="0" anchor="ctr"/>
          <a:lstStyle/>
          <a:p>
            <a:pPr algn="ctr"/>
            <a:r>
              <a:rPr sz="1000" b="1">
                <a:solidFill>
                  <a:srgbClr val="FF6B6B"/>
                </a:solidFill>
                <a:latin typeface="Calibri"/>
              </a:rPr>
              <a:t>Axe 4 · Architecture</a:t>
            </a:r>
            <a:r>
              <a:rPr sz="1000">
                <a:solidFill>
                  <a:srgbClr val="8A9199"/>
                </a:solidFill>
                <a:latin typeface="Calibri"/>
              </a:rPr>
              <a:t>  ·  0'30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  <a:latin typeface="Calibri"/>
              </a:rPr>
              <a:t>On ouvre le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74720"/>
            <a:ext cx="11091672" cy="5486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2200" b="1" i="0" dirty="0">
                <a:solidFill>
                  <a:srgbClr val="2EF598"/>
                </a:solidFill>
                <a:latin typeface="Calibri"/>
              </a:rPr>
              <a:t>https://huggingface.co/spaces/Alh92500/paris-bornes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11091672" cy="4572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400" b="0" i="1">
                <a:solidFill>
                  <a:srgbClr val="8A9199"/>
                </a:solidFill>
                <a:latin typeface="Calibri"/>
              </a:rPr>
              <a:t>Le dashboard prend le relais — on le suit pendant les 7 prochaines minutes.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8A9199"/>
                </a:solidFill>
                <a:latin typeface="Calibri"/>
              </a:rPr>
              <a:t>Bornes de recharge VE — Paris · Projet Final Jedha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8A9199"/>
                </a:solidFill>
                <a:latin typeface="Calibri"/>
              </a:rPr>
              <a:t>3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1" i="0">
                <a:solidFill>
                  <a:srgbClr val="5AA9FF"/>
                </a:solidFill>
                <a:latin typeface="Calibri"/>
              </a:rPr>
              <a:t>ANGLE ÉNERGIE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731520" cy="45720"/>
          </a:xfrm>
          <a:prstGeom prst="rect">
            <a:avLst/>
          </a:prstGeom>
          <a:solidFill>
            <a:srgbClr val="5A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418320" y="320040"/>
            <a:ext cx="2221992" cy="411480"/>
          </a:xfrm>
          <a:prstGeom prst="roundRect">
            <a:avLst/>
          </a:prstGeom>
          <a:solidFill>
            <a:srgbClr val="141B2B"/>
          </a:solidFill>
          <a:ln w="12700">
            <a:solidFill>
              <a:srgbClr val="5AA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18288" rIns="73152" bIns="18288" rtlCol="0" anchor="ctr"/>
          <a:lstStyle/>
          <a:p>
            <a:pPr algn="ctr"/>
            <a:r>
              <a:rPr sz="1000" b="1">
                <a:solidFill>
                  <a:srgbClr val="5AA9FF"/>
                </a:solidFill>
                <a:latin typeface="Calibri"/>
              </a:rPr>
              <a:t>Axe 2 · Énergie</a:t>
            </a:r>
            <a:r>
              <a:rPr sz="1000">
                <a:solidFill>
                  <a:srgbClr val="8A9199"/>
                </a:solidFill>
                <a:latin typeface="Calibri"/>
              </a:rPr>
              <a:t>  ·  0'50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  <a:latin typeface="Calibri"/>
              </a:rPr>
              <a:t>Le réseau tient-il le choc ?</a:t>
            </a:r>
          </a:p>
        </p:txBody>
      </p:sp>
      <p:pic>
        <p:nvPicPr>
          <p:cNvPr id="7" name="Picture 6" descr="fig2_soutenabilite_scenar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484" y="2006600"/>
            <a:ext cx="7804526" cy="299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98788" y="2261152"/>
            <a:ext cx="4206240" cy="32004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dirty="0">
                <a:solidFill>
                  <a:srgbClr val="5AA9FF"/>
                </a:solidFill>
                <a:latin typeface="Calibri"/>
              </a:rPr>
              <a:t>▸ </a:t>
            </a:r>
            <a:r>
              <a:rPr sz="1400" dirty="0" err="1">
                <a:solidFill>
                  <a:srgbClr val="EAEAEA"/>
                </a:solidFill>
                <a:latin typeface="Calibri"/>
              </a:rPr>
              <a:t>Conso</a:t>
            </a:r>
            <a:r>
              <a:rPr sz="1400" dirty="0">
                <a:solidFill>
                  <a:srgbClr val="EAEAEA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EAEAEA"/>
                </a:solidFill>
                <a:latin typeface="Calibri"/>
              </a:rPr>
              <a:t>Enedis</a:t>
            </a:r>
            <a:r>
              <a:rPr sz="1400" dirty="0">
                <a:solidFill>
                  <a:srgbClr val="EAEAEA"/>
                </a:solidFill>
                <a:latin typeface="Calibri"/>
              </a:rPr>
              <a:t> par arrondissement</a:t>
            </a:r>
          </a:p>
          <a:p>
            <a:pPr algn="l">
              <a:spcAft>
                <a:spcPts val="800"/>
              </a:spcAft>
            </a:pPr>
            <a:r>
              <a:rPr sz="1400" b="1" dirty="0">
                <a:solidFill>
                  <a:srgbClr val="5AA9FF"/>
                </a:solidFill>
                <a:latin typeface="Calibri"/>
              </a:rPr>
              <a:t>▸ </a:t>
            </a:r>
            <a:r>
              <a:rPr sz="1400" dirty="0" err="1">
                <a:solidFill>
                  <a:srgbClr val="EAEAEA"/>
                </a:solidFill>
                <a:latin typeface="Calibri"/>
              </a:rPr>
              <a:t>Croisé</a:t>
            </a:r>
            <a:r>
              <a:rPr sz="1400" dirty="0">
                <a:solidFill>
                  <a:srgbClr val="EAEAEA"/>
                </a:solidFill>
                <a:latin typeface="Calibri"/>
              </a:rPr>
              <a:t> avec </a:t>
            </a:r>
            <a:r>
              <a:rPr sz="1400" dirty="0" err="1">
                <a:solidFill>
                  <a:srgbClr val="EAEAEA"/>
                </a:solidFill>
                <a:latin typeface="Calibri"/>
              </a:rPr>
              <a:t>besoin</a:t>
            </a:r>
            <a:r>
              <a:rPr sz="1400" dirty="0">
                <a:solidFill>
                  <a:srgbClr val="EAEAEA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EAEAEA"/>
                </a:solidFill>
                <a:latin typeface="Calibri"/>
              </a:rPr>
              <a:t>bornes</a:t>
            </a:r>
            <a:r>
              <a:rPr sz="1400" dirty="0">
                <a:solidFill>
                  <a:srgbClr val="EAEAEA"/>
                </a:solidFill>
                <a:latin typeface="Calibri"/>
              </a:rPr>
              <a:t> à 5 </a:t>
            </a:r>
            <a:r>
              <a:rPr sz="1400" dirty="0" err="1">
                <a:solidFill>
                  <a:srgbClr val="EAEAEA"/>
                </a:solidFill>
                <a:latin typeface="Calibri"/>
              </a:rPr>
              <a:t>ans</a:t>
            </a:r>
            <a:endParaRPr sz="1400" dirty="0">
              <a:solidFill>
                <a:srgbClr val="EAEAEA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1400" b="1" dirty="0">
                <a:solidFill>
                  <a:srgbClr val="5AA9FF"/>
                </a:solidFill>
                <a:latin typeface="Calibri"/>
              </a:rPr>
              <a:t>▸ </a:t>
            </a:r>
            <a:r>
              <a:rPr sz="1400" dirty="0" err="1">
                <a:solidFill>
                  <a:srgbClr val="EAEAEA"/>
                </a:solidFill>
                <a:latin typeface="Calibri"/>
              </a:rPr>
              <a:t>Scénario</a:t>
            </a:r>
            <a:r>
              <a:rPr sz="1400" dirty="0">
                <a:solidFill>
                  <a:srgbClr val="EAEAEA"/>
                </a:solidFill>
                <a:latin typeface="Calibri"/>
              </a:rPr>
              <a:t> central : </a:t>
            </a:r>
            <a:r>
              <a:rPr sz="1400" dirty="0" err="1">
                <a:solidFill>
                  <a:srgbClr val="EAEAEA"/>
                </a:solidFill>
                <a:latin typeface="Calibri"/>
              </a:rPr>
              <a:t>soutenable</a:t>
            </a:r>
            <a:endParaRPr sz="1400" dirty="0">
              <a:solidFill>
                <a:srgbClr val="EAEAEA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1400" b="1" dirty="0">
                <a:solidFill>
                  <a:srgbClr val="5AA9FF"/>
                </a:solidFill>
                <a:latin typeface="Calibri"/>
              </a:rPr>
              <a:t>▸ </a:t>
            </a:r>
            <a:r>
              <a:rPr sz="1400" dirty="0" err="1">
                <a:solidFill>
                  <a:srgbClr val="EAEAEA"/>
                </a:solidFill>
                <a:latin typeface="Calibri"/>
              </a:rPr>
              <a:t>Scénario</a:t>
            </a:r>
            <a:r>
              <a:rPr sz="1400" dirty="0">
                <a:solidFill>
                  <a:srgbClr val="EAEAEA"/>
                </a:solidFill>
                <a:latin typeface="Calibri"/>
              </a:rPr>
              <a:t> haut : 4 </a:t>
            </a:r>
            <a:r>
              <a:rPr sz="1400" dirty="0" err="1">
                <a:solidFill>
                  <a:srgbClr val="EAEAEA"/>
                </a:solidFill>
                <a:latin typeface="Calibri"/>
              </a:rPr>
              <a:t>arrdt</a:t>
            </a:r>
            <a:r>
              <a:rPr sz="1400" dirty="0">
                <a:solidFill>
                  <a:srgbClr val="EAEAEA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EAEAEA"/>
                </a:solidFill>
                <a:latin typeface="Calibri"/>
              </a:rPr>
              <a:t>sensibles</a:t>
            </a:r>
            <a:endParaRPr sz="1400" dirty="0">
              <a:solidFill>
                <a:srgbClr val="EAEAEA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8A9199"/>
                </a:solidFill>
                <a:latin typeface="Calibri"/>
              </a:rPr>
              <a:t>Bornes de recharge VE — Paris · Projet Final Jedha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8A9199"/>
                </a:solidFill>
                <a:latin typeface="Calibri"/>
              </a:rPr>
              <a:t>6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1" i="0">
                <a:solidFill>
                  <a:srgbClr val="FF6B6B"/>
                </a:solidFill>
                <a:latin typeface="Calibri"/>
              </a:rPr>
              <a:t>COUCHE PRESSION ·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731520" cy="4572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418320" y="320040"/>
            <a:ext cx="2221992" cy="411480"/>
          </a:xfrm>
          <a:prstGeom prst="roundRect">
            <a:avLst/>
          </a:prstGeom>
          <a:solidFill>
            <a:srgbClr val="141B2B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18288" rIns="73152" bIns="18288" rtlCol="0" anchor="ctr"/>
          <a:lstStyle/>
          <a:p>
            <a:pPr algn="ctr"/>
            <a:r>
              <a:rPr sz="1000" b="1">
                <a:solidFill>
                  <a:srgbClr val="FF6B6B"/>
                </a:solidFill>
                <a:latin typeface="Calibri"/>
              </a:rPr>
              <a:t>Axe 1 · Données</a:t>
            </a:r>
            <a:r>
              <a:rPr sz="1000">
                <a:solidFill>
                  <a:srgbClr val="8A9199"/>
                </a:solidFill>
                <a:latin typeface="Calibri"/>
              </a:rPr>
              <a:t>  ·  1'30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  <a:latin typeface="Calibri"/>
              </a:rPr>
              <a:t>Déficit de bornes à 3 ans · par arrondissement</a:t>
            </a:r>
          </a:p>
        </p:txBody>
      </p:sp>
      <p:pic>
        <p:nvPicPr>
          <p:cNvPr id="7" name="Picture 6" descr="chart_deficit_par_arrd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03120"/>
            <a:ext cx="7498079" cy="439236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21040" y="2286000"/>
            <a:ext cx="3383280" cy="36576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>
                <a:solidFill>
                  <a:srgbClr val="FF6B6B"/>
                </a:solidFill>
                <a:latin typeface="Calibri"/>
              </a:rPr>
              <a:t>▸ </a:t>
            </a:r>
            <a:r>
              <a:rPr sz="1300">
                <a:solidFill>
                  <a:srgbClr val="EAEAEA"/>
                </a:solidFill>
                <a:latin typeface="Calibri"/>
              </a:rPr>
              <a:t>15ᵉ en tête : ~800 bornes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FF6B6B"/>
                </a:solidFill>
                <a:latin typeface="Calibri"/>
              </a:rPr>
              <a:t>▸ </a:t>
            </a:r>
            <a:r>
              <a:rPr sz="1300">
                <a:solidFill>
                  <a:srgbClr val="EAEAEA"/>
                </a:solidFill>
                <a:latin typeface="Calibri"/>
              </a:rPr>
              <a:t>18ᵉ · 20ᵉ · 19ᵉ · 13ᵉ très rouges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FF6B6B"/>
                </a:solidFill>
                <a:latin typeface="Calibri"/>
              </a:rPr>
              <a:t>▸ </a:t>
            </a:r>
            <a:r>
              <a:rPr sz="1300">
                <a:solidFill>
                  <a:srgbClr val="EAEAEA"/>
                </a:solidFill>
                <a:latin typeface="Calibri"/>
              </a:rPr>
              <a:t>13 arrdts au-dessus du seuil AFIR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FF6B6B"/>
                </a:solidFill>
                <a:latin typeface="Calibri"/>
              </a:rPr>
              <a:t>▸ </a:t>
            </a:r>
            <a:r>
              <a:rPr sz="1300">
                <a:solidFill>
                  <a:srgbClr val="EAEAEA"/>
                </a:solidFill>
                <a:latin typeface="Calibri"/>
              </a:rPr>
              <a:t>8ᵉ et 1ᵉ = cas sereins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8A9199"/>
                </a:solidFill>
                <a:latin typeface="Calibri"/>
              </a:rPr>
              <a:t>Bornes de recharge VE — Paris · Projet Final Jedha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8A9199"/>
                </a:solidFill>
                <a:latin typeface="Calibri"/>
              </a:rPr>
              <a:t>4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F9923-8A1C-D776-0812-BF98BC7F4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EB10262-F137-57AC-8F01-3E4EE69D088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20DA25-F0D2-A677-1414-5F6D0D33DEF0}"/>
              </a:ext>
            </a:extLst>
          </p:cNvPr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1" i="0">
                <a:solidFill>
                  <a:srgbClr val="5AA9FF"/>
                </a:solidFill>
                <a:latin typeface="Calibri"/>
              </a:rPr>
              <a:t>COUCHE ÉNERGIE · DASHBOARD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E1B5773-DFBA-3FB9-2A41-AD98AACADF15}"/>
              </a:ext>
            </a:extLst>
          </p:cNvPr>
          <p:cNvSpPr/>
          <p:nvPr/>
        </p:nvSpPr>
        <p:spPr>
          <a:xfrm>
            <a:off x="548640" y="777240"/>
            <a:ext cx="731520" cy="45720"/>
          </a:xfrm>
          <a:prstGeom prst="rect">
            <a:avLst/>
          </a:prstGeom>
          <a:solidFill>
            <a:srgbClr val="5A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50C50F6-822F-6E1F-9D84-41D5087E4E28}"/>
              </a:ext>
            </a:extLst>
          </p:cNvPr>
          <p:cNvSpPr/>
          <p:nvPr/>
        </p:nvSpPr>
        <p:spPr>
          <a:xfrm>
            <a:off x="9418320" y="320040"/>
            <a:ext cx="2221992" cy="411480"/>
          </a:xfrm>
          <a:prstGeom prst="roundRect">
            <a:avLst/>
          </a:prstGeom>
          <a:solidFill>
            <a:srgbClr val="141B2B"/>
          </a:solidFill>
          <a:ln w="12700">
            <a:solidFill>
              <a:srgbClr val="5AA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18288" rIns="73152" bIns="18288" rtlCol="0" anchor="ctr"/>
          <a:lstStyle/>
          <a:p>
            <a:pPr algn="ctr"/>
            <a:r>
              <a:rPr sz="1000" b="1">
                <a:solidFill>
                  <a:srgbClr val="5AA9FF"/>
                </a:solidFill>
                <a:latin typeface="Calibri"/>
              </a:rPr>
              <a:t>Axe 2 · Énergie</a:t>
            </a:r>
            <a:r>
              <a:rPr sz="1000">
                <a:solidFill>
                  <a:srgbClr val="8A9199"/>
                </a:solidFill>
                <a:latin typeface="Calibri"/>
              </a:rPr>
              <a:t>  ·  1'30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0966AF-66A4-B586-70AB-22B541A9040D}"/>
              </a:ext>
            </a:extLst>
          </p:cNvPr>
          <p:cNvSpPr txBox="1"/>
          <p:nvPr/>
        </p:nvSpPr>
        <p:spPr>
          <a:xfrm>
            <a:off x="548640" y="960120"/>
            <a:ext cx="11091672" cy="437043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600" b="1" i="0" dirty="0" err="1">
                <a:solidFill>
                  <a:srgbClr val="EAEAEA"/>
                </a:solidFill>
                <a:latin typeface="Calibri"/>
              </a:rPr>
              <a:t>Niveau</a:t>
            </a:r>
            <a:r>
              <a:rPr sz="2600" b="1" i="0" dirty="0">
                <a:solidFill>
                  <a:srgbClr val="EAEAEA"/>
                </a:solidFill>
                <a:latin typeface="Calibri"/>
              </a:rPr>
              <a:t> de stress réseau </a:t>
            </a:r>
            <a:r>
              <a:rPr lang="fr-FR" sz="2600" b="1" i="0" dirty="0">
                <a:solidFill>
                  <a:srgbClr val="EAEAEA"/>
                </a:solidFill>
                <a:latin typeface="Calibri"/>
              </a:rPr>
              <a:t>aujourd’hui.</a:t>
            </a:r>
            <a:endParaRPr sz="2600" b="1" i="0" dirty="0">
              <a:solidFill>
                <a:srgbClr val="EAEAEA"/>
              </a:solidFill>
              <a:latin typeface="Calibri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DEA72A-A428-909E-E74E-3216A27463E4}"/>
              </a:ext>
            </a:extLst>
          </p:cNvPr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8A9199"/>
                </a:solidFill>
                <a:latin typeface="Calibri"/>
              </a:rPr>
              <a:t>Bornes de recharge VE — Paris · Projet Final Jedha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756AE3-429E-4FF7-99AC-3F599F1217DC}"/>
              </a:ext>
            </a:extLst>
          </p:cNvPr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8A9199"/>
                </a:solidFill>
                <a:latin typeface="Calibri"/>
              </a:rPr>
              <a:t>5 / 9</a:t>
            </a: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784D5E1B-0E2D-20D8-15D6-203B1952B7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9734"/>
            <a:ext cx="8149614" cy="4680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25279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1" i="0">
                <a:solidFill>
                  <a:srgbClr val="5AA9FF"/>
                </a:solidFill>
                <a:latin typeface="Calibri"/>
              </a:rPr>
              <a:t>COUCHE ÉNERGIE ·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731520" cy="45720"/>
          </a:xfrm>
          <a:prstGeom prst="rect">
            <a:avLst/>
          </a:prstGeom>
          <a:solidFill>
            <a:srgbClr val="5A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418320" y="320040"/>
            <a:ext cx="2221992" cy="411480"/>
          </a:xfrm>
          <a:prstGeom prst="roundRect">
            <a:avLst/>
          </a:prstGeom>
          <a:solidFill>
            <a:srgbClr val="141B2B"/>
          </a:solidFill>
          <a:ln w="12700">
            <a:solidFill>
              <a:srgbClr val="5AA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18288" rIns="73152" bIns="18288" rtlCol="0" anchor="ctr"/>
          <a:lstStyle/>
          <a:p>
            <a:pPr algn="ctr"/>
            <a:r>
              <a:rPr sz="1000" b="1">
                <a:solidFill>
                  <a:srgbClr val="5AA9FF"/>
                </a:solidFill>
                <a:latin typeface="Calibri"/>
              </a:rPr>
              <a:t>Axe 2 · Énergie</a:t>
            </a:r>
            <a:r>
              <a:rPr sz="1000">
                <a:solidFill>
                  <a:srgbClr val="8A9199"/>
                </a:solidFill>
                <a:latin typeface="Calibri"/>
              </a:rPr>
              <a:t>  ·  1'30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  <a:latin typeface="Calibri"/>
              </a:rPr>
              <a:t>Niveau de stress réseau à 3 ans</a:t>
            </a:r>
          </a:p>
        </p:txBody>
      </p:sp>
      <p:pic>
        <p:nvPicPr>
          <p:cNvPr id="7" name="Picture 6" descr="chart_niveaux_str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03120"/>
            <a:ext cx="7498079" cy="354543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21040" y="2286000"/>
            <a:ext cx="3383280" cy="36576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dirty="0">
                <a:solidFill>
                  <a:srgbClr val="5AA9FF"/>
                </a:solidFill>
                <a:latin typeface="Calibri"/>
              </a:rPr>
              <a:t>▸ </a:t>
            </a:r>
            <a:r>
              <a:rPr sz="1300" dirty="0">
                <a:solidFill>
                  <a:srgbClr val="EAEAEA"/>
                </a:solidFill>
                <a:latin typeface="Calibri"/>
              </a:rPr>
              <a:t>13 </a:t>
            </a:r>
            <a:r>
              <a:rPr sz="1300" dirty="0" err="1">
                <a:solidFill>
                  <a:srgbClr val="EAEAEA"/>
                </a:solidFill>
                <a:latin typeface="Calibri"/>
              </a:rPr>
              <a:t>arrdts</a:t>
            </a:r>
            <a:r>
              <a:rPr sz="1300" dirty="0">
                <a:solidFill>
                  <a:srgbClr val="EAEAEA"/>
                </a:solidFill>
                <a:latin typeface="Calibri"/>
              </a:rPr>
              <a:t> critiques</a:t>
            </a:r>
          </a:p>
          <a:p>
            <a:pPr algn="l">
              <a:spcAft>
                <a:spcPts val="1000"/>
              </a:spcAft>
            </a:pPr>
            <a:r>
              <a:rPr sz="1300" b="1" dirty="0">
                <a:solidFill>
                  <a:srgbClr val="5AA9FF"/>
                </a:solidFill>
                <a:latin typeface="Calibri"/>
              </a:rPr>
              <a:t>▸ </a:t>
            </a:r>
            <a:r>
              <a:rPr sz="1300" dirty="0">
                <a:solidFill>
                  <a:srgbClr val="EAEAEA"/>
                </a:solidFill>
                <a:latin typeface="Calibri"/>
              </a:rPr>
              <a:t>4 </a:t>
            </a:r>
            <a:r>
              <a:rPr sz="1300" dirty="0" err="1">
                <a:solidFill>
                  <a:srgbClr val="EAEAEA"/>
                </a:solidFill>
                <a:latin typeface="Calibri"/>
              </a:rPr>
              <a:t>en</a:t>
            </a:r>
            <a:r>
              <a:rPr sz="1300" dirty="0">
                <a:solidFill>
                  <a:srgbClr val="EAEAEA"/>
                </a:solidFill>
                <a:latin typeface="Calibri"/>
              </a:rPr>
              <a:t> vigilance</a:t>
            </a:r>
          </a:p>
          <a:p>
            <a:pPr algn="l">
              <a:spcAft>
                <a:spcPts val="1000"/>
              </a:spcAft>
            </a:pPr>
            <a:r>
              <a:rPr sz="1300" b="1" dirty="0">
                <a:solidFill>
                  <a:srgbClr val="5AA9FF"/>
                </a:solidFill>
                <a:latin typeface="Calibri"/>
              </a:rPr>
              <a:t>▸ </a:t>
            </a:r>
            <a:r>
              <a:rPr sz="1300" dirty="0">
                <a:solidFill>
                  <a:srgbClr val="EAEAEA"/>
                </a:solidFill>
                <a:latin typeface="Calibri"/>
              </a:rPr>
              <a:t>3 </a:t>
            </a:r>
            <a:r>
              <a:rPr sz="1300" dirty="0" err="1">
                <a:solidFill>
                  <a:srgbClr val="EAEAEA"/>
                </a:solidFill>
                <a:latin typeface="Calibri"/>
              </a:rPr>
              <a:t>soutenables</a:t>
            </a:r>
            <a:endParaRPr sz="1300" dirty="0">
              <a:solidFill>
                <a:srgbClr val="EAEAEA"/>
              </a:solidFill>
              <a:latin typeface="Calibri"/>
            </a:endParaRPr>
          </a:p>
          <a:p>
            <a:pPr algn="l">
              <a:spcAft>
                <a:spcPts val="1000"/>
              </a:spcAft>
            </a:pPr>
            <a:r>
              <a:rPr sz="1300" b="1" dirty="0">
                <a:solidFill>
                  <a:srgbClr val="5AA9FF"/>
                </a:solidFill>
                <a:latin typeface="Calibri"/>
              </a:rPr>
              <a:t>▸ </a:t>
            </a:r>
            <a:r>
              <a:rPr sz="1300" dirty="0">
                <a:solidFill>
                  <a:srgbClr val="EAEAEA"/>
                </a:solidFill>
                <a:latin typeface="Calibri"/>
              </a:rPr>
              <a:t>Central </a:t>
            </a:r>
            <a:r>
              <a:rPr sz="1300" dirty="0" err="1">
                <a:solidFill>
                  <a:srgbClr val="EAEAEA"/>
                </a:solidFill>
                <a:latin typeface="Calibri"/>
              </a:rPr>
              <a:t>tient</a:t>
            </a:r>
            <a:r>
              <a:rPr sz="1300" dirty="0">
                <a:solidFill>
                  <a:srgbClr val="EAEAEA"/>
                </a:solidFill>
                <a:latin typeface="Calibri"/>
              </a:rPr>
              <a:t> — haut à </a:t>
            </a:r>
            <a:r>
              <a:rPr sz="1300" dirty="0" err="1">
                <a:solidFill>
                  <a:srgbClr val="EAEAEA"/>
                </a:solidFill>
                <a:latin typeface="Calibri"/>
              </a:rPr>
              <a:t>surveiller</a:t>
            </a:r>
            <a:endParaRPr sz="1300" dirty="0">
              <a:solidFill>
                <a:srgbClr val="EAEAEA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8A9199"/>
                </a:solidFill>
                <a:latin typeface="Calibri"/>
              </a:rPr>
              <a:t>Bornes de recharge VE — Paris · Projet Final Jedha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8A9199"/>
                </a:solidFill>
                <a:latin typeface="Calibri"/>
              </a:rPr>
              <a:t>5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1" i="0">
                <a:solidFill>
                  <a:srgbClr val="FF8F65"/>
                </a:solidFill>
                <a:latin typeface="Calibri"/>
              </a:rPr>
              <a:t>ANGLE MOBILITÉ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731520" cy="45720"/>
          </a:xfrm>
          <a:prstGeom prst="rect">
            <a:avLst/>
          </a:prstGeom>
          <a:solidFill>
            <a:srgbClr val="FF8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418320" y="320040"/>
            <a:ext cx="2221992" cy="411480"/>
          </a:xfrm>
          <a:prstGeom prst="roundRect">
            <a:avLst/>
          </a:prstGeom>
          <a:solidFill>
            <a:srgbClr val="141B2B"/>
          </a:solidFill>
          <a:ln w="12700">
            <a:solidFill>
              <a:srgbClr val="FF8F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18288" rIns="73152" bIns="18288" rtlCol="0" anchor="ctr"/>
          <a:lstStyle/>
          <a:p>
            <a:pPr algn="ctr"/>
            <a:r>
              <a:rPr sz="1000" b="1">
                <a:solidFill>
                  <a:srgbClr val="FF8F65"/>
                </a:solidFill>
                <a:latin typeface="Calibri"/>
              </a:rPr>
              <a:t>Axe 3 · Mobilité</a:t>
            </a:r>
            <a:r>
              <a:rPr sz="1000">
                <a:solidFill>
                  <a:srgbClr val="8A9199"/>
                </a:solidFill>
                <a:latin typeface="Calibri"/>
              </a:rPr>
              <a:t>  ·  1'30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  <a:latin typeface="Calibri"/>
              </a:rPr>
              <a:t>Où installer, concrètement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68880"/>
            <a:ext cx="3520440" cy="2286000"/>
          </a:xfrm>
          <a:prstGeom prst="roundRect">
            <a:avLst/>
          </a:prstGeom>
          <a:solidFill>
            <a:srgbClr val="141B2B"/>
          </a:solidFill>
          <a:ln w="15875">
            <a:solidFill>
              <a:srgbClr val="FF8F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2606040"/>
            <a:ext cx="3191256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400" b="1" i="0">
                <a:solidFill>
                  <a:srgbClr val="FF8F65"/>
                </a:solidFill>
                <a:latin typeface="Calibri"/>
              </a:rPr>
              <a:t>Trafic routier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017520"/>
            <a:ext cx="3191256" cy="1645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300" b="0" i="0">
                <a:solidFill>
                  <a:srgbClr val="EAEAEA"/>
                </a:solidFill>
                <a:latin typeface="Calibri"/>
              </a:rPr>
              <a:t>Comptages DRIEA
Axes à fort passage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2468880"/>
            <a:ext cx="3520440" cy="2286000"/>
          </a:xfrm>
          <a:prstGeom prst="roundRect">
            <a:avLst/>
          </a:prstGeom>
          <a:solidFill>
            <a:srgbClr val="141B2B"/>
          </a:solidFill>
          <a:ln w="15875">
            <a:solidFill>
              <a:srgbClr val="FFD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81144" y="2606040"/>
            <a:ext cx="3191256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400" b="1" i="0">
                <a:solidFill>
                  <a:srgbClr val="FFD54F"/>
                </a:solidFill>
                <a:latin typeface="Calibri"/>
              </a:rPr>
              <a:t>POI OpenStreetMap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3017520"/>
            <a:ext cx="3191256" cy="1645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300" b="0" i="0">
                <a:solidFill>
                  <a:srgbClr val="EAEAEA"/>
                </a:solidFill>
                <a:latin typeface="Calibri"/>
              </a:rPr>
              <a:t>Commerces · services
Parkings existants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4" y="2468880"/>
            <a:ext cx="3520440" cy="2286000"/>
          </a:xfrm>
          <a:prstGeom prst="roundRect">
            <a:avLst/>
          </a:prstGeom>
          <a:solidFill>
            <a:srgbClr val="141B2B"/>
          </a:solidFill>
          <a:ln w="15875">
            <a:solidFill>
              <a:srgbClr val="2EF5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66176" y="2606040"/>
            <a:ext cx="3191256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400" b="1" i="0">
                <a:solidFill>
                  <a:srgbClr val="2EF598"/>
                </a:solidFill>
                <a:latin typeface="Calibri"/>
              </a:rPr>
              <a:t>Modes doux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6176" y="3017520"/>
            <a:ext cx="3191256" cy="1645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300" b="0" i="0">
                <a:solidFill>
                  <a:srgbClr val="EAEAEA"/>
                </a:solidFill>
                <a:latin typeface="Calibri"/>
              </a:rPr>
              <a:t>Vélib' · pistes cyclables
Mutualisation possible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29200"/>
            <a:ext cx="11091672" cy="4572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300" b="0" i="1">
                <a:solidFill>
                  <a:srgbClr val="8A9199"/>
                </a:solidFill>
                <a:latin typeface="Calibri"/>
              </a:rPr>
              <a:t>Résultat : un GeoJSON de points candidats, déjà affichable sur le dashboard.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8A9199"/>
                </a:solidFill>
                <a:latin typeface="Calibri"/>
              </a:rPr>
              <a:t>Bornes de recharge VE — Paris · Projet Final Jedha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8A9199"/>
                </a:solidFill>
                <a:latin typeface="Calibri"/>
              </a:rPr>
              <a:t>6 /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1" i="0">
                <a:solidFill>
                  <a:srgbClr val="FFD54F"/>
                </a:solidFill>
                <a:latin typeface="Calibri"/>
              </a:rPr>
              <a:t>SCÉNARIOS × HORIZON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731520" cy="45720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418320" y="320040"/>
            <a:ext cx="2221992" cy="411480"/>
          </a:xfrm>
          <a:prstGeom prst="roundRect">
            <a:avLst/>
          </a:prstGeom>
          <a:solidFill>
            <a:srgbClr val="141B2B"/>
          </a:solidFill>
          <a:ln w="12700">
            <a:solidFill>
              <a:srgbClr val="FFD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18288" rIns="73152" bIns="18288" rtlCol="0" anchor="ctr"/>
          <a:lstStyle/>
          <a:p>
            <a:pPr algn="ctr"/>
            <a:r>
              <a:rPr sz="1000" b="1">
                <a:solidFill>
                  <a:srgbClr val="FFD54F"/>
                </a:solidFill>
                <a:latin typeface="Calibri"/>
              </a:rPr>
              <a:t>Axe 1 / Axe 4</a:t>
            </a:r>
            <a:r>
              <a:rPr sz="1000">
                <a:solidFill>
                  <a:srgbClr val="8A9199"/>
                </a:solidFill>
                <a:latin typeface="Calibri"/>
              </a:rPr>
              <a:t>  ·  1'30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  <a:latin typeface="Calibri"/>
              </a:rPr>
              <a:t>Projection du déficit · 3 scénarios × 5 horizons</a:t>
            </a:r>
          </a:p>
        </p:txBody>
      </p:sp>
      <p:pic>
        <p:nvPicPr>
          <p:cNvPr id="7" name="Picture 6" descr="chart_scenarios_defic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510748"/>
            <a:ext cx="9058830" cy="488974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8A9199"/>
                </a:solidFill>
                <a:latin typeface="Calibri"/>
              </a:rPr>
              <a:t>Bornes de recharge VE — Paris · Projet Final Jedha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8A9199"/>
                </a:solidFill>
                <a:latin typeface="Calibri"/>
              </a:rPr>
              <a:t>7 / 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11091672" cy="1371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7200" b="1" i="0">
                <a:solidFill>
                  <a:srgbClr val="2EF598"/>
                </a:solidFill>
                <a:latin typeface="Calibri"/>
              </a:rPr>
              <a:t>Merci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91672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2800" b="0" i="0">
                <a:solidFill>
                  <a:srgbClr val="8A9199"/>
                </a:solidFill>
                <a:latin typeface="Calibri"/>
              </a:rPr>
              <a:t>Questions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26480"/>
            <a:ext cx="11091672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100" b="0" i="0">
                <a:solidFill>
                  <a:srgbClr val="8A9199"/>
                </a:solidFill>
                <a:latin typeface="Calibri"/>
              </a:rPr>
              <a:t>https://huggingface.co/spaces/Alh92500/paris-bornes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8A9199"/>
                </a:solidFill>
                <a:latin typeface="Calibri"/>
              </a:rPr>
              <a:t>Bornes de recharge VE — Paris · Projet Final Jedha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8A9199"/>
                </a:solidFill>
                <a:latin typeface="Calibri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1395</TotalTime>
  <Words>1141</Words>
  <Application>Microsoft Office PowerPoint</Application>
  <PresentationFormat>Grand écran</PresentationFormat>
  <Paragraphs>137</Paragraphs>
  <Slides>11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Aymeric LAHONDE</cp:lastModifiedBy>
  <cp:revision>3</cp:revision>
  <dcterms:created xsi:type="dcterms:W3CDTF">2013-01-27T09:14:16Z</dcterms:created>
  <dcterms:modified xsi:type="dcterms:W3CDTF">2026-04-22T08:08:26Z</dcterms:modified>
  <cp:category/>
</cp:coreProperties>
</file>